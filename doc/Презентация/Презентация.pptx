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3" r:id="rId13"/>
    <p:sldId id="269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23BA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745" autoAdjust="0"/>
  </p:normalViewPr>
  <p:slideViewPr>
    <p:cSldViewPr snapToGrid="0">
      <p:cViewPr>
        <p:scale>
          <a:sx n="66" d="100"/>
          <a:sy n="66" d="100"/>
        </p:scale>
        <p:origin x="-30" y="-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КУРСОВОЙ ПРОЕКТ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Тема: </a:t>
            </a:r>
            <a:r>
              <a:rPr lang="ru-RU" b="1" dirty="0">
                <a:solidFill>
                  <a:srgbClr val="FF0000"/>
                </a:solidFill>
              </a:rPr>
              <a:t>Разработка автоматизированной информационной системы магазина воздушных шаров на базе платформы .NET.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47493022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xmlns="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xmlns="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Смирнов Максим Вячеславович</a:t>
                      </a:r>
                    </a:p>
                    <a:p>
                      <a:pPr algn="l"/>
                      <a:r>
                        <a:rPr lang="ru-RU" baseline="0" dirty="0"/>
                        <a:t>                       Студентка группы ИС-22Б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</a:t>
                      </a:r>
                      <a:r>
                        <a:rPr lang="ru-RU" baseline="0" dirty="0"/>
                        <a:t> Иванов Илья Александрович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xmlns="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Актуальность 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2450" y="1828800"/>
            <a:ext cx="11087100" cy="4013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 невозможно представить современный праздник без воздушных шаров – они стали неотъемлемой частью дней рождений, свадеб, корпоративов и других торжеств. Каждый из нас хотя бы раз покупал воздушные шары, выбирая их по цвету, форме или тематике праздника. Гораздо удобнее обратиться в специализированный магазин, где представлен огромный ассортимент шаров, чем пытаться украсить мероприятие самостоятельно, тратя время на поиски и заказ. Ежедневно через такой магазин проходят десятки, а иногда и сотни покупателей, желающих приобрести шары для своих праздников.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настоящее время очень сложно представить эффективную работу магазина воздушных шаров без автоматизированной информационной системы, которая помогает вести учёт товаров, быстро оформлять заказы и анализировать продажи.</a:t>
            </a:r>
          </a:p>
        </p:txBody>
      </p:sp>
    </p:spTree>
    <p:extLst>
      <p:ext uri="{BB962C8B-B14F-4D97-AF65-F5344CB8AC3E}">
        <p14:creationId xmlns:p14="http://schemas.microsoft.com/office/powerpoint/2010/main" xmlns="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254000"/>
            <a:ext cx="12192000" cy="955675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Обоснование выбора среды разработки и способа организации входных и выходных данных</a:t>
            </a:r>
          </a:p>
        </p:txBody>
      </p:sp>
      <p:pic>
        <p:nvPicPr>
          <p:cNvPr id="20" name="Picture 14" descr="https://logo-download.com/wp-content/data/images/png/C++-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9054" t="14795" r="29175" b="15280"/>
          <a:stretch/>
        </p:blipFill>
        <p:spPr bwMode="auto">
          <a:xfrm>
            <a:off x="6197601" y="2002971"/>
            <a:ext cx="1640322" cy="183059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:\БД-24 ИТ\f\f\бебебе с бабаба\postgresql_original_wordmark_logo_icon_14639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60115" y="4303496"/>
            <a:ext cx="2264228" cy="2264228"/>
          </a:xfrm>
          <a:prstGeom prst="rect">
            <a:avLst/>
          </a:prstGeom>
          <a:noFill/>
        </p:spPr>
      </p:pic>
      <p:pic>
        <p:nvPicPr>
          <p:cNvPr id="22" name="Picture 6" descr="https://softmap.ru/upload/iblock/e54/e54939d4e36e17534d4c8d1c8b05c2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404" y="4701496"/>
            <a:ext cx="1619476" cy="161947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https://logo-download.com/wp-content/data/images/png/MonoDevelop-logo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822" t="15953" r="26811" b="23958"/>
          <a:stretch/>
        </p:blipFill>
        <p:spPr bwMode="auto">
          <a:xfrm>
            <a:off x="0" y="4669446"/>
            <a:ext cx="2037613" cy="17603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miro.medium.com/max/1200/1*w0u2TZpEp3WfKMrlL5jTSw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2585" t="20641" r="25489" b="15409"/>
          <a:stretch/>
        </p:blipFill>
        <p:spPr bwMode="auto">
          <a:xfrm>
            <a:off x="3979327" y="1959426"/>
            <a:ext cx="1646654" cy="185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:\БД-24 ИТ\f\f\бебебе с бабаба\sql-server-logo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617936" y="4717142"/>
            <a:ext cx="1990346" cy="1636032"/>
          </a:xfrm>
          <a:prstGeom prst="rect">
            <a:avLst/>
          </a:prstGeom>
          <a:noFill/>
        </p:spPr>
      </p:pic>
      <p:pic>
        <p:nvPicPr>
          <p:cNvPr id="19" name="Picture 22" descr="https://24x7servermanagement.com/wp-content/uploads/2016/09/mysql-logo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93366" y="3989151"/>
            <a:ext cx="3269524" cy="17848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:\БД-24 ИТ\f\f\бебебе с бабаба\Java-Logo.pn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126720" y="1314448"/>
            <a:ext cx="1533525" cy="2857500"/>
          </a:xfrm>
          <a:prstGeom prst="rect">
            <a:avLst/>
          </a:prstGeom>
          <a:noFill/>
        </p:spPr>
      </p:pic>
      <p:pic>
        <p:nvPicPr>
          <p:cNvPr id="1026" name="Picture 2" descr="https://miro.medium.com/max/1200/1*sXIXxTtZPaylbQMgsbI4GA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151087"/>
            <a:ext cx="3359991" cy="1662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1770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7137F13E-5EE3-4B16-9F76-41313EB75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720" y="1704587"/>
            <a:ext cx="7022559" cy="483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7146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деятельности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F82DCDE-E0F2-B0CC-8BCD-F80475F76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89" y="1391769"/>
            <a:ext cx="9304421" cy="501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9031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Структура БД – </a:t>
            </a:r>
            <a:r>
              <a:rPr lang="en-US" sz="4000" dirty="0">
                <a:solidFill>
                  <a:schemeClr val="bg1"/>
                </a:solidFill>
              </a:rPr>
              <a:t>ER</a:t>
            </a:r>
            <a:r>
              <a:rPr lang="ru-RU" sz="4000" dirty="0">
                <a:solidFill>
                  <a:schemeClr val="bg1"/>
                </a:solidFill>
              </a:rPr>
              <a:t>-диаграмма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6C80CA55-A27F-D390-79B7-95C590BBA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7" y="1635543"/>
            <a:ext cx="724852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25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30F4D7B0-50D9-8A61-2111-B47371491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471" y="1465772"/>
            <a:ext cx="2915057" cy="374384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D0C9B6CE-D9A4-B4A9-BAE7-3E77801F9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598" y="1465772"/>
            <a:ext cx="2876951" cy="459169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7FFA6A32-02BF-5564-0086-83A41029B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51" y="1465772"/>
            <a:ext cx="2915057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585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44569538-4A1B-0AE5-10DA-89A514D37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315" y="1609197"/>
            <a:ext cx="6432415" cy="339770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9E470A24-8F57-D97C-5B14-8FFEFAA9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07" y="3160121"/>
            <a:ext cx="4461470" cy="303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8861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2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9A31AB0B-296E-F45E-11C4-121E65E8B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7" y="1838327"/>
            <a:ext cx="6055528" cy="41755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D74791F0-19ED-9E2F-7F27-ADC3D4CEB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540" y="2126353"/>
            <a:ext cx="4718500" cy="363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377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2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3F9628A-849B-E3E4-515D-4D72CDD48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289" y="1588319"/>
            <a:ext cx="6124723" cy="42232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9D05665E-8815-6F05-EA5D-FA251E78A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75" y="1943305"/>
            <a:ext cx="5444664" cy="351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549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2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F4CC50F-64EF-6085-F3DC-EDC481857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320" y="1758971"/>
            <a:ext cx="6029237" cy="410342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82591616-6D3F-8D61-0290-2AEAECF4B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649" y="1941095"/>
            <a:ext cx="2922094" cy="37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0732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2E121F-9A55-B902-094A-3F4B40126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3443C18-0B58-26F1-2D5A-E9408B51D4FD}"/>
              </a:ext>
            </a:extLst>
          </p:cNvPr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2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6508D317-1FB6-4D80-6219-A6E3974E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98" y="2144796"/>
            <a:ext cx="5735253" cy="33854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B5A16B67-560B-52D6-B831-76310990E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955" y="2144796"/>
            <a:ext cx="5528631" cy="357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83317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2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Применяемые меры защиты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591270" y="1374005"/>
            <a:ext cx="300902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Разграничение прав доступа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474297" y="1462747"/>
            <a:ext cx="3243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Скрытие пароля при его вводе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714748" y="4693911"/>
            <a:ext cx="41882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записей из базы данных или корзины осуществляется только после подтверждения 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379329A2-30CE-8E6A-986B-3EF2D9D1C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82" y="1850660"/>
            <a:ext cx="3717206" cy="249803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768B1389-C125-0A7B-C7C9-EED4BF58D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612" y="1850660"/>
            <a:ext cx="3717206" cy="249803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BDC0C4E7-AFA7-B7C5-5BB1-8E91637FF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052" y="5617241"/>
            <a:ext cx="2730560" cy="1078039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11524" y="4518751"/>
            <a:ext cx="2125980" cy="1449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Прямоугольник 12"/>
          <p:cNvSpPr/>
          <p:nvPr/>
        </p:nvSpPr>
        <p:spPr>
          <a:xfrm>
            <a:off x="8003777" y="5934670"/>
            <a:ext cx="4188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Проверка на заполнение обязательных полей</a:t>
            </a:r>
            <a:endParaRPr lang="ru-RU" dirty="0"/>
          </a:p>
        </p:txBody>
      </p:sp>
      <p:pic>
        <p:nvPicPr>
          <p:cNvPr id="15" name="Рисунок 14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0460" y="4489722"/>
            <a:ext cx="2386965" cy="1449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Прямоугольник 16"/>
          <p:cNvSpPr/>
          <p:nvPr/>
        </p:nvSpPr>
        <p:spPr>
          <a:xfrm>
            <a:off x="0" y="5992939"/>
            <a:ext cx="4188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Ошибка об неудачной попытке авторизации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8" name="Рисунок 17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32264" y="1669142"/>
            <a:ext cx="1865222" cy="1134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Прямоугольник 18"/>
          <p:cNvSpPr/>
          <p:nvPr/>
        </p:nvSpPr>
        <p:spPr>
          <a:xfrm>
            <a:off x="4978400" y="2894139"/>
            <a:ext cx="23513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Подтверждение выхода</a:t>
            </a:r>
          </a:p>
        </p:txBody>
      </p:sp>
    </p:spTree>
    <p:extLst>
      <p:ext uri="{BB962C8B-B14F-4D97-AF65-F5344CB8AC3E}">
        <p14:creationId xmlns:p14="http://schemas.microsoft.com/office/powerpoint/2010/main" xmlns="" val="2838169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90575" y="1998668"/>
            <a:ext cx="10706100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процессе написание программного обеспечения использовался язык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# и база данных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MySql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были усовершенствованы навыки в работе с этим языком программирования и базой данных. Также были получены новые знания.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2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42950" y="3986706"/>
            <a:ext cx="10706100" cy="1883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</a:rPr>
              <a:t>В </a:t>
            </a:r>
            <a:r>
              <a:rPr lang="ru-RU" sz="2000" dirty="0">
                <a:latin typeface="Times New Roman" panose="02020603050405020304" pitchFamily="18" charset="0"/>
              </a:rPr>
              <a:t>дальнейшем планируется усовершенствование программы. Планируется добавить функции: автоматический учёт остатков на складе с уведомлениями о необходимости пополнения, возможность оплаты заказов банковскими картами. Сам программный код будет модернизирован для улучшения производительности и расширения функциональности.</a:t>
            </a:r>
          </a:p>
        </p:txBody>
      </p:sp>
    </p:spTree>
    <p:extLst>
      <p:ext uri="{BB962C8B-B14F-4D97-AF65-F5344CB8AC3E}">
        <p14:creationId xmlns:p14="http://schemas.microsoft.com/office/powerpoint/2010/main" xmlns="" val="982261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331FA7-7970-0C58-A7BF-871620EF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AADBCEC-475C-7276-5F19-1F42228FE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КУРСОВОЙ ПРОЕКТ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D525DD8D-C7E6-D399-3A6F-AC3641B6F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Тема: </a:t>
            </a:r>
            <a:r>
              <a:rPr lang="ru-RU" b="1" dirty="0">
                <a:solidFill>
                  <a:srgbClr val="FF0000"/>
                </a:solidFill>
              </a:rPr>
              <a:t>Разработка автоматизированной информационной системы магазина воздушных шаров на базе платформы .NET.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0638A506-2BE5-5D4B-0DB2-FC2903C95B8D}"/>
              </a:ext>
            </a:extLst>
          </p:cNvPr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xmlns="" id="{162835C0-F224-80CA-7E0B-AD1B76287729}"/>
              </a:ext>
            </a:extLst>
          </p:cNvPr>
          <p:cNvGraphicFramePr>
            <a:graphicFrameLocks noGrp="1"/>
          </p:cNvGraphicFramePr>
          <p:nvPr/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xmlns="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xmlns="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Смирнов Максим Вячеславович</a:t>
                      </a:r>
                    </a:p>
                    <a:p>
                      <a:pPr algn="l"/>
                      <a:r>
                        <a:rPr lang="ru-RU" baseline="0" dirty="0"/>
                        <a:t>                       Студентка группы ИС-22Б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</a:t>
                      </a:r>
                      <a:r>
                        <a:rPr lang="ru-RU" baseline="0" dirty="0"/>
                        <a:t> Иванов Илья Александрович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B92F16BC-AEDB-F2C4-A42A-D426B5AFD87F}"/>
              </a:ext>
            </a:extLst>
          </p:cNvPr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xmlns="" val="19946940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</TotalTime>
  <Words>344</Words>
  <Application>Microsoft Office PowerPoint</Application>
  <PresentationFormat>Произвольный</PresentationFormat>
  <Paragraphs>45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КУРСОВОЙ ПРОЕКТ</vt:lpstr>
      <vt:lpstr>Актуальность темы</vt:lpstr>
      <vt:lpstr>Обоснование выбора среды разработки и способа организации входных и выходных данных</vt:lpstr>
      <vt:lpstr>Диаграмма вариантов использования</vt:lpstr>
      <vt:lpstr>Диаграмма деятельности</vt:lpstr>
      <vt:lpstr>Структура БД – ER-диаграмма</vt:lpstr>
      <vt:lpstr>Программные модули</vt:lpstr>
      <vt:lpstr>Программные модули</vt:lpstr>
      <vt:lpstr>Слайд 9</vt:lpstr>
      <vt:lpstr>Слайд 10</vt:lpstr>
      <vt:lpstr>Слайд 11</vt:lpstr>
      <vt:lpstr>Слайд 12</vt:lpstr>
      <vt:lpstr>Слайд 13</vt:lpstr>
      <vt:lpstr>Слайд 14</vt:lpstr>
      <vt:lpstr>КУРСОВОЙ ПРОЕКТ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student246</cp:lastModifiedBy>
  <cp:revision>32</cp:revision>
  <dcterms:created xsi:type="dcterms:W3CDTF">2022-06-15T10:15:27Z</dcterms:created>
  <dcterms:modified xsi:type="dcterms:W3CDTF">2026-03-11T10:28:03Z</dcterms:modified>
</cp:coreProperties>
</file>